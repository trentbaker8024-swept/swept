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SWEPT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Cities. Real Jobs.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Accountability.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1828800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383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Visible, accountable civic cleanup powered by technology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driven by people who give a damn.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sweptcity.com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city is filthy.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nobody's accountable for the money spent fixing it.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2194560" cy="14630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20240"/>
            <a:ext cx="2194560" cy="4572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$11.5B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on litter cleanup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US annually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1920240"/>
            <a:ext cx="2194560" cy="14630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08960" y="1920240"/>
            <a:ext cx="2194560" cy="4572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057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50B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9184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pieces of litter clog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America's roadways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1920240"/>
            <a:ext cx="2194560" cy="14630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1920240"/>
            <a:ext cx="2194560" cy="4572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20574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66928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value drop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littered neighborhoods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2A2A2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657600"/>
            <a:ext cx="54864" cy="109728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7490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alone spends $20M+ per year fighting litter with a crew of just 18 people.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tracking. No accountability. No proof it happened.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Swept: Visible, accountable civic cleanup.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377440" cy="21945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737360"/>
            <a:ext cx="411480" cy="411480"/>
          </a:xfrm>
          <a:prstGeom prst="ellipse">
            <a:avLst/>
          </a:prstGeom>
          <a:solidFill>
            <a:srgbClr val="39FF1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 Report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 a photo, drop a pin.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Goes into the queue instantly.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554480"/>
            <a:ext cx="2377440" cy="21945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1737360"/>
            <a:ext cx="411480" cy="411480"/>
          </a:xfrm>
          <a:prstGeom prst="ellipse">
            <a:avLst/>
          </a:prstGeom>
          <a:solidFill>
            <a:srgbClr val="39FF14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0624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Crews Clean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2377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GPS-tracked, uniformed,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background-checked crews.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377440" cy="21945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737360"/>
            <a:ext cx="411480" cy="411480"/>
          </a:xfrm>
          <a:prstGeom prst="ellipse">
            <a:avLst/>
          </a:prstGeom>
          <a:solidFill>
            <a:srgbClr val="39FF1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49440" y="1783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It's Done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377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Before/after photos.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Timestamped. Geotagged.</a:t>
            </a:r>
            <a:endParaRPr lang="en-US" sz="12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2377440"/>
            <a:ext cx="320040" cy="320040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377440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 Elected officials get data-driven proof of civic improvement.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 see their reports resolved. Workers get dignified jobs.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CITY OFFICIALS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not buying trash pickup.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buying a re-election case study.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2468880" cy="10515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8470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80160" y="2194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stats on crews, reports, tonnage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737360"/>
            <a:ext cx="2468880" cy="10515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8745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23360" y="18470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Before/After Proof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023360" y="2194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Timestamped, geotagged documentation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737360"/>
            <a:ext cx="2468880" cy="10515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7452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66560" y="18470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Creation Data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766560" y="2194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jobs created, hours worked, wages paid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31520" y="3017520"/>
            <a:ext cx="2468880" cy="10515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15468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80160" y="31272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Fraud-Proof Operations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280160" y="3474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tracking on every crew, every shift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474720" y="3017520"/>
            <a:ext cx="2468880" cy="10515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15468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023360" y="31272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Satisfaction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023360" y="3474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 satisfaction in pilot programs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217920" y="3017520"/>
            <a:ext cx="2468880" cy="10515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154680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66560" y="31272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Transparency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766560" y="3474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 track their own reports in the app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731520" y="4480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brought Swept to our city — 47 tons removed, 200 jobs created,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12,000 citizen reports resolved." — That's your press conference.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WORKFORCE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with dignity. Entry-level positions that matter.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82880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54480"/>
            <a:ext cx="1828800" cy="4572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worker vetted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1554480"/>
            <a:ext cx="182880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1554480"/>
            <a:ext cx="1828800" cy="4572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Uniformed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Identifiable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608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Bold, visible gear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554480"/>
            <a:ext cx="182880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554480"/>
            <a:ext cx="1828800" cy="4572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Fairly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$18-25/hr starting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1554480"/>
            <a:ext cx="182880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554480"/>
            <a:ext cx="1828800" cy="4572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1737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4088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advancement path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LADDER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3749040"/>
            <a:ext cx="182880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</a:t>
            </a:r>
            <a:endParaRPr lang="en-US" sz="13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3813048"/>
            <a:ext cx="228600" cy="22860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2788920" y="3749040"/>
            <a:ext cx="182880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6" name="Text 23"/>
          <p:cNvSpPr/>
          <p:nvPr/>
        </p:nvSpPr>
        <p:spPr>
          <a:xfrm>
            <a:off x="278892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 Lead</a:t>
            </a:r>
            <a:endParaRPr lang="en-US" sz="13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3813048"/>
            <a:ext cx="228600" cy="22860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4846320" y="3749040"/>
            <a:ext cx="182880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9" name="Text 25"/>
          <p:cNvSpPr/>
          <p:nvPr/>
        </p:nvSpPr>
        <p:spPr>
          <a:xfrm>
            <a:off x="484632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PM</a:t>
            </a:r>
            <a:endParaRPr lang="en-US" sz="13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813048"/>
            <a:ext cx="228600" cy="228600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6903720" y="3749040"/>
            <a:ext cx="1828800" cy="4572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2" name="Text 27"/>
          <p:cNvSpPr/>
          <p:nvPr/>
        </p:nvSpPr>
        <p:spPr>
          <a:xfrm>
            <a:off x="690372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Account Manager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Cities are already spending this money.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just make it work.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256032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$11.5B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litter cleanup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(annual)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1737360"/>
            <a:ext cx="256032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$1.3B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566160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government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on litter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737360"/>
            <a:ext cx="2560320" cy="13716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$9.1B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00800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spend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(sponsorship TAM)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CITIES SPEND TODAY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Dallas, TX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3931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$153M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sanitation budget / $20M+ on litter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297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Philadelphia, PA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4297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$48M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litter cleanup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663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DOT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0" y="4663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highway litter alone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revenue streams. One mission.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9601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" cy="96012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087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286000" y="1536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Contracts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184708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service agreements per zone/district.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public works budgets.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taxes required. $135K-$450K/mo per city.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7680960" cy="9601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606040"/>
            <a:ext cx="54864" cy="96012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517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286000" y="2679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Sponsorship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86000" y="299008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"Adopt-a-Zone" — local businesses sponsor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cleanup areas. Visible in-app and on social.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$5K-$25K/month per zone.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7680960" cy="9601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749040"/>
            <a:ext cx="54864" cy="960120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7947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C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286000" y="3822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 &amp; Incentives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286000" y="413308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EPA, HUD block grants, workforce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funds. Multiple qualifying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 per city.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10 cities, 5 zones each, $450K/month avg = $54M/year in revenue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pricing. Measurable ROI.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560320" cy="29260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$135K</a:t>
            </a:r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/month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zone  |  2 crews  |  3-month trial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291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Real-time dashboard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520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GPS crew tracking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3749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Before/after photos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977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Monthly reports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4206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Citizen app access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66160" y="1463040"/>
            <a:ext cx="2560320" cy="2926080"/>
          </a:xfrm>
          <a:prstGeom prst="rect">
            <a:avLst/>
          </a:prstGeom>
          <a:solidFill>
            <a:srgbClr val="0D1A0D"/>
          </a:solidFill>
          <a:ln w="25400">
            <a:solidFill>
              <a:srgbClr val="39FF1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66160" y="1463040"/>
            <a:ext cx="2560320" cy="32004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STANDARD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2468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$450K</a:t>
            </a:r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/month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74904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zones  |  6-10 crews  |  Annual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3657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Real-time dashboard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0" y="3886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GPS crew tracking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0" y="4114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Before/after photos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0" y="4343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Monthly reports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0" y="4572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Citizen app access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1463040"/>
            <a:ext cx="2560320" cy="29260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 SCALE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2103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</a:t>
            </a:r>
            <a:pPr algn="ctr" indent="0" marL="0">
              <a:buNone/>
            </a:pP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58368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zones  |  20+ crews  |  Multi-year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32918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Real-time dashboard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75120" y="3520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GPS crew tracking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3749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Before/after photos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0" y="3977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Monthly reports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75120" y="4206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Citizen app access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DALLAS PILOT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pilot program results.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87452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002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trash removed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463040"/>
            <a:ext cx="187452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34640" y="16002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834640" y="21945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2514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463040"/>
            <a:ext cx="187452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6002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12K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937760" y="21945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1463040"/>
            <a:ext cx="187452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40880" y="16002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040880" y="21945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0" y="25146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satisfaction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PREVIOUS APPROACH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3840480"/>
            <a:ext cx="3657600" cy="1005840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3840480"/>
            <a:ext cx="3657600" cy="45720"/>
          </a:xfrm>
          <a:prstGeom prst="rect">
            <a:avLst/>
          </a:prstGeom>
          <a:solidFill>
            <a:srgbClr val="FF6B00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931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Swept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4251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workers  |  No tracking  |  No public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$20M+ budget with zero accountability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840480"/>
            <a:ext cx="3657600" cy="1005840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3840480"/>
            <a:ext cx="3657600" cy="4572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3931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Swept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42519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workers  |  GPS tracked  |  Live dashboard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 cost savings vs. prior contractor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Nail one city. Then scale.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188720" cy="68580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1463040"/>
            <a:ext cx="630936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1508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Pilot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15087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zone, 2 crews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proof of concept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case study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331720"/>
            <a:ext cx="1188720" cy="6858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331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651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03120" y="2331720"/>
            <a:ext cx="630936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Dallas Full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23774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zones, 10 crews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city contract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sponsors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3200400"/>
            <a:ext cx="1188720" cy="6858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00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520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03120" y="3200400"/>
            <a:ext cx="630936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0" y="3246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Texas Expansion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54880" y="32461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Houston, Austin, SA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cities in 12 months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State-level partnerships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069080"/>
            <a:ext cx="1188720" cy="6858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069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4389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03120" y="4069080"/>
            <a:ext cx="630936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0" y="4114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Scale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54880" y="41148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US cities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grant programs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$18M+ ARR target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MOAT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competitors can't just copy this.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" cy="73152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08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Network Effect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1508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report and cleanup builds a dataset no competitor has. After one year in Dallas, we have proof of what works, where problems recur, and optimal crew routing.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7680960" cy="7315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331720"/>
            <a:ext cx="54864" cy="73152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377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Lock-In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23774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10,000 residents are actively reporting, that's a switching cost for the city. You can't fire the company that 10,000 voters love.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200400"/>
            <a:ext cx="54864" cy="73152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246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Recognition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32461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 green crews cleaning up your block. Before/after content going viral on social media. That's organic marketing no competitor can buy.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069080"/>
            <a:ext cx="7680960" cy="7315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069080"/>
            <a:ext cx="54864" cy="731520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114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Mover Advantage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91840" y="41148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contracts are sticky. Once Dallas works, we walk into Houston with irrefutable proof. Cities are slow to switch vendors.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800" kern="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SWEPT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Cities. Real Jobs. Total Accountability.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0" y="2743200"/>
            <a:ext cx="1828800" cy="36576"/>
          </a:xfrm>
          <a:prstGeom prst="rect">
            <a:avLst/>
          </a:prstGeom>
          <a:solidFill>
            <a:srgbClr val="39FF1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$54M+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Target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31089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834640" y="36118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per City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31089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937760" y="36118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40880" y="31089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040880" y="36118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Savings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9FF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sweptcity.com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Swept - Pitch Deck</dc:title>
  <dc:subject>PptxGenJS Presentation</dc:subject>
  <dc:creator>Swept</dc:creator>
  <cp:lastModifiedBy>Swept</cp:lastModifiedBy>
  <cp:revision>1</cp:revision>
  <dcterms:created xsi:type="dcterms:W3CDTF">2026-03-16T18:42:52Z</dcterms:created>
  <dcterms:modified xsi:type="dcterms:W3CDTF">2026-03-16T18:42:52Z</dcterms:modified>
</cp:coreProperties>
</file>
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SWEPT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Cities. Real Jobs.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Accountability.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383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Visible, accountable civic cleanup powered by technology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driven by people who give a damn.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sweptcity.com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city is filthy.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nobody's accountable for the money spent fixing it.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2194560" cy="14630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20240"/>
            <a:ext cx="2194560" cy="45720"/>
          </a:xfrm>
          <a:prstGeom prst="rect">
            <a:avLst/>
          </a:prstGeom>
          <a:solidFill>
            <a:srgbClr val="FF6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$11.5B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spent on litter cleanup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US annually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08960" y="1920240"/>
            <a:ext cx="2194560" cy="14630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1920240"/>
            <a:ext cx="2194560" cy="45720"/>
          </a:xfrm>
          <a:prstGeom prst="rect">
            <a:avLst/>
          </a:prstGeom>
          <a:solidFill>
            <a:srgbClr val="FF6B00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2057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50B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29184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pieces of litter clog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America's roadways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0" y="1920240"/>
            <a:ext cx="2194560" cy="14630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0" y="1920240"/>
            <a:ext cx="2194560" cy="45720"/>
          </a:xfrm>
          <a:prstGeom prst="rect">
            <a:avLst/>
          </a:prstGeom>
          <a:solidFill>
            <a:srgbClr val="FF6B00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0" y="2057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66928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value drop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littered neighborhoods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7680960" cy="109728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657600"/>
            <a:ext cx="54864" cy="109728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7490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Dallas alone spends $20M+ per year fighting litter with a crew of just 18 people.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tracking. No accountability. No proof it happened.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Swept: Visible, accountable civic cleanup.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2377440" cy="2194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737360"/>
            <a:ext cx="411480" cy="411480"/>
          </a:xfrm>
          <a:prstGeom prst="ellipse">
            <a:avLst/>
          </a:prstGeom>
          <a:solidFill>
            <a:srgbClr val="39FF1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7830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Citizens Report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377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 a photo, drop a pin.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Goes into the queue instantly.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74720" y="1554480"/>
            <a:ext cx="2377440" cy="2194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1737360"/>
            <a:ext cx="411480" cy="411480"/>
          </a:xfrm>
          <a:prstGeom prst="ellipse">
            <a:avLst/>
          </a:prstGeom>
          <a:solidFill>
            <a:srgbClr val="39FF14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06240" y="17830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Crews Clean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57600" y="2377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GPS-tracked, uniformed,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background-checked crews.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554480"/>
            <a:ext cx="2377440" cy="2194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1737360"/>
            <a:ext cx="411480" cy="411480"/>
          </a:xfrm>
          <a:prstGeom prst="ellipse">
            <a:avLst/>
          </a:prstGeom>
          <a:solidFill>
            <a:srgbClr val="39FF1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949440" y="17830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It's Done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377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Before/after photos.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Timestamped. Geotagged.</a:t>
            </a:r>
            <a:endParaRPr lang="en-US" sz="1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0" y="2377440"/>
            <a:ext cx="320040" cy="3200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37744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 Elected officials get data-driven proof of civic improvement.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Citizens see their reports resolved. Workers get dignified jobs.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CITY OFFICIALS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not buying trash pickup.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buying a re-election case study.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246888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745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Dashboard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80160" y="21945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stats on crews, reports, tonnage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737360"/>
            <a:ext cx="246888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8745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23360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Before/After Proof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023360" y="21945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Timestamped, geotagged documentation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737360"/>
            <a:ext cx="246888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7452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766560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Creation Data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766560" y="21945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jobs created, hours worked, wages paid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731520" y="3017520"/>
            <a:ext cx="246888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154680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80160" y="31272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Fraud-Proof Operations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280160" y="34747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tracking on every crew, every shift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3474720" y="3017520"/>
            <a:ext cx="246888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154680"/>
            <a:ext cx="320040" cy="32004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23360" y="31272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Satisfaction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023360" y="34747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 satisfaction in pilot programs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6217920" y="3017520"/>
            <a:ext cx="246888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154680"/>
            <a:ext cx="320040" cy="32004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766560" y="31272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Transparency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6766560" y="34747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Citizens track their own reports in the app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731520" y="4480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brought Swept to our city — 47 tons removed, 200 jobs created,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 citizen reports resolved." — That's your press conference.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WORKFORCE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with dignity. Entry-level positions that matter.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182880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54480"/>
            <a:ext cx="1828800" cy="457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worker vetted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88920" y="1554480"/>
            <a:ext cx="182880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0" y="1554480"/>
            <a:ext cx="1828800" cy="457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Uniformed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Identifiable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26080" y="2377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Bold, visible gear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554480"/>
            <a:ext cx="182880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554480"/>
            <a:ext cx="1828800" cy="457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Fairly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83480" y="2377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$18-25/hr starting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03720" y="1554480"/>
            <a:ext cx="182880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1554480"/>
            <a:ext cx="1828800" cy="457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40880" y="2377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advancement path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LADDER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3749040"/>
            <a:ext cx="1828800" cy="4572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</a:t>
            </a:r>
            <a:endParaRPr lang="en-US" sz="13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3813048"/>
            <a:ext cx="228600" cy="22860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2788920" y="3749040"/>
            <a:ext cx="1828800" cy="4572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278892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 Lead</a:t>
            </a:r>
            <a:endParaRPr lang="en-US" sz="13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813048"/>
            <a:ext cx="228600" cy="22860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4846320" y="3749040"/>
            <a:ext cx="1828800" cy="4572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9" name="Text 25"/>
          <p:cNvSpPr/>
          <p:nvPr/>
        </p:nvSpPr>
        <p:spPr>
          <a:xfrm>
            <a:off x="484632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PM</a:t>
            </a:r>
            <a:endParaRPr lang="en-US" sz="13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813048"/>
            <a:ext cx="228600" cy="228600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6903720" y="3749040"/>
            <a:ext cx="1828800" cy="45720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2" name="Text 27"/>
          <p:cNvSpPr/>
          <p:nvPr/>
        </p:nvSpPr>
        <p:spPr>
          <a:xfrm>
            <a:off x="690372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 Account Manager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Cities are already spending this money.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just make it work.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256032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$11.5B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litter cleanup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(annual)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1737360"/>
            <a:ext cx="256032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$1.3B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government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on litter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737360"/>
            <a:ext cx="256032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6B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$9.1B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400800" y="2468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spend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(sponsorship TAM)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CITIES SPEND TODAY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Dallas, TX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3931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$153M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sanitation budget / $20M+ on litter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297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Philadelphia, PA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60320" y="4297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$48M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litter cleanup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663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DOT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60320" y="4663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4663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highway litter alone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revenue streams. One mission.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7680960" cy="9601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63040"/>
            <a:ext cx="54864" cy="9601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5087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70%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286000" y="15361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Contracts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0" y="184708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service agreements per zone/district.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public works budgets.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taxes required. $135K-$250K/mo per city.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606040"/>
            <a:ext cx="7680960" cy="9601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606040"/>
            <a:ext cx="54864" cy="960120"/>
          </a:xfrm>
          <a:prstGeom prst="rect">
            <a:avLst/>
          </a:prstGeom>
          <a:solidFill>
            <a:srgbClr val="FF6B0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6517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6B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286000" y="26791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Sponsorship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86000" y="299008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"Adopt-a-Zone" — local businesses sponsor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 areas. Visible in-app and on social.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$5K-$25K/month per zone.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7680960" cy="9601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749040"/>
            <a:ext cx="54864" cy="960120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947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CFF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2286000" y="38221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 &amp; Incentives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286000" y="413308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EPA, HUD block grants, workforce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funds. Multiple qualifying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categories per city.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10 cities, 5 zones each, $250K/month avg = $30M/year in revenue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pricing. Measurable ROI.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2560320" cy="2926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645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$135K</a:t>
            </a:r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/month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zone  |  2 crews  |  3-month trial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291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Real-time dashboard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3520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GPS crew tracking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3749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Before/after photos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9776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Monthly reports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42062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Citizen app access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1463040"/>
            <a:ext cx="2560320" cy="2926080"/>
          </a:xfrm>
          <a:prstGeom prst="rect">
            <a:avLst/>
          </a:prstGeom>
          <a:solidFill>
            <a:srgbClr val="0D1A0D"/>
          </a:solidFill>
          <a:ln w="25400">
            <a:solidFill>
              <a:srgbClr val="39FF1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566160" y="1463040"/>
            <a:ext cx="2560320" cy="32004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16" name="Text 14"/>
          <p:cNvSpPr/>
          <p:nvPr/>
        </p:nvSpPr>
        <p:spPr>
          <a:xfrm>
            <a:off x="3566160" y="1463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POPULAR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6616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 STANDARD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6616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$250K</a:t>
            </a:r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/month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374904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3-5 zones  |  6-10 crews  |  Annual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36576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Real-time dashboard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0" y="3886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GPS crew tracking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41148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Before/after photos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40480" y="4343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Monthly reports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40480" y="45720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Citizen app access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0" y="1463040"/>
            <a:ext cx="2560320" cy="2926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0" y="1645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 SCALE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2103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</a:t>
            </a:r>
            <a:pPr algn="ctr" indent="0" marL="0">
              <a:buNone/>
            </a:pP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658368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zones  |  20+ crews  |  Multi-year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3291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Real-time dashboard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3520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GPS crew tracking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3749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Before/after photos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39776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Monthly reports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75120" y="42062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Citizen app access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DALLAS PILOT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pilot program results.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87452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6002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trash removed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87452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34640" y="16002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34640" y="21945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34640" y="2514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1463040"/>
            <a:ext cx="187452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16002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12K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937760" y="21945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514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40880" y="1463040"/>
            <a:ext cx="187452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040880" y="16002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040880" y="21945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040880" y="2514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satisfaction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PREVIOUS APPROACH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3840480"/>
            <a:ext cx="3657600" cy="1005840"/>
          </a:xfrm>
          <a:prstGeom prst="rect">
            <a:avLst/>
          </a:prstGeom>
          <a:solidFill>
            <a:srgbClr val="1A0A0A"/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3840480"/>
            <a:ext cx="3657600" cy="45720"/>
          </a:xfrm>
          <a:prstGeom prst="rect">
            <a:avLst/>
          </a:prstGeom>
          <a:solidFill>
            <a:srgbClr val="FF6B00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3931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Swept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68680" y="4251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workers  |  No tracking  |  No public data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$20M+ budget with zero accountability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840480"/>
            <a:ext cx="3657600" cy="1005840"/>
          </a:xfrm>
          <a:prstGeom prst="rect">
            <a:avLst/>
          </a:prstGeom>
          <a:solidFill>
            <a:srgbClr val="0A1A0A"/>
          </a:solidFill>
          <a:ln/>
        </p:spPr>
      </p:sp>
      <p:sp>
        <p:nvSpPr>
          <p:cNvPr id="27" name="Shape 25"/>
          <p:cNvSpPr/>
          <p:nvPr/>
        </p:nvSpPr>
        <p:spPr>
          <a:xfrm>
            <a:off x="4754880" y="3840480"/>
            <a:ext cx="3657600" cy="457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28" name="Text 26"/>
          <p:cNvSpPr/>
          <p:nvPr/>
        </p:nvSpPr>
        <p:spPr>
          <a:xfrm>
            <a:off x="4892040" y="3931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Swept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92040" y="4251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workers  |  GPS tracked  |  Live dashboard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cost savings vs. prior contractor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Nail one city. Then scale.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188720" cy="68580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63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03120" y="1463040"/>
            <a:ext cx="630936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15087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Dallas Pilot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15087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zone, 2 crews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proof of concept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case study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331720"/>
            <a:ext cx="1188720" cy="6858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331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2651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03120" y="2331720"/>
            <a:ext cx="630936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2286000" y="23774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Dallas Full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23774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zones, 10 crews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city contract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sponsors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1188720" cy="6858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2004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35204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03120" y="3200400"/>
            <a:ext cx="630936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0" y="3246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Expansion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32461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Houston, Austin, SA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cities in 12 months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State-level partnerships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069080"/>
            <a:ext cx="1188720" cy="6858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069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4389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03120" y="4069080"/>
            <a:ext cx="630936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/>
          <p:nvPr/>
        </p:nvSpPr>
        <p:spPr>
          <a:xfrm>
            <a:off x="2286000" y="4114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Scale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754880" y="41148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US cities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grant programs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$18M+ ARR target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MOAT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competitors can't just copy this.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63040"/>
            <a:ext cx="54864" cy="7315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508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Network Effect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508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report and cleanup builds a dataset no competitor has. After one year in Dallas, we have proof of what works, where problems recur, and optimal crew routing.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7680960" cy="7315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331720"/>
            <a:ext cx="54864" cy="7315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377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Lock-In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3774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10,000 residents are actively reporting, that's a switching cost for the city. You can't fire the company that 10,000 voters love.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200400"/>
            <a:ext cx="54864" cy="7315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246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Recognition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3246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Neon green crews cleaning up your block. Before/after content going viral on social media. That's organic marketing no competitor can buy.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069080"/>
            <a:ext cx="7680960" cy="7315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069080"/>
            <a:ext cx="54864" cy="731520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Mover Advantage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91840" y="41148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contracts are sticky. Once Dallas works, we walk into Houston with irrefutable proof. Cities are slow to switch vendors.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spc="800" kern="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SWEPT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Cities. Real Jobs. Total Accountability.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0" y="2743200"/>
            <a:ext cx="1828800" cy="36576"/>
          </a:xfrm>
          <a:prstGeom prst="rect">
            <a:avLst/>
          </a:prstGeom>
          <a:solidFill>
            <a:srgbClr val="39FF1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1089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$30M+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 Target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834640" y="31089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834640" y="36118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per City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31089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937760" y="36118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1089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9F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34%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040880" y="36118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Savings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sweptcity.com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Swept - Pitch Deck</dc:title>
  <dc:subject>PptxGenJS Presentation</dc:subject>
  <dc:creator>Swept</dc:creator>
  <cp:lastModifiedBy>Swept</cp:lastModifiedBy>
  <cp:revision>1</cp:revision>
  <dcterms:created xsi:type="dcterms:W3CDTF">2026-03-16T19:16:04Z</dcterms:created>
  <dcterms:modified xsi:type="dcterms:W3CDTF">2026-03-16T19:16:04Z</dcterms:modified>
</cp:coreProperties>
</file>